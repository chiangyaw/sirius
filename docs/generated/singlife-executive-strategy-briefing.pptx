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84831"/>
            <a:ext cx="12801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 spc="300">
                <a:solidFill>
                  <a:srgbClr val="2DD4BF"/>
                </a:solidFill>
                <a:latin typeface="Arial"/>
              </a:rPr>
              <a:t>SINGLIFE  •  EXECUTIVE STRATEGY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33172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6000" b="1" i="0">
                <a:solidFill>
                  <a:srgbClr val="F5F5F7"/>
                </a:solidFill>
                <a:latin typeface="Arial"/>
              </a:rPr>
              <a:t>The Autonomous SOC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9A9EA7"/>
                </a:solidFill>
                <a:latin typeface="Arial"/>
              </a:rPr>
              <a:t>Machine-speed security, one unified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74920"/>
            <a:ext cx="10543032" cy="12700"/>
          </a:xfrm>
          <a:prstGeom prst="rect">
            <a:avLst/>
          </a:prstGeom>
          <a:solidFill>
            <a:srgbClr val="2A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 i="0">
                <a:solidFill>
                  <a:srgbClr val="F5F5F7"/>
                </a:solidFill>
                <a:latin typeface="Arial"/>
              </a:rPr>
              <a:t>Singlife Executive Strategy Briefing  •  Cortex XSIAM  •  10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0" i="0">
                <a:solidFill>
                  <a:srgbClr val="6B6F78"/>
                </a:solidFill>
                <a:latin typeface="Arial"/>
              </a:rPr>
              <a:t>Presented by Palo Alto Networks —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SESSION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10545775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12:30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11680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Executive Strategy Lunch: Vision &amp; Alignment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96896"/>
            <a:ext cx="10545775" cy="566928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96896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9689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13:15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96896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The Autonomous SOC: A Practitioner's Blueprint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82112"/>
            <a:ext cx="10545775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182112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182112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14:00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182112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Operational Excellence: SOC Walkthrough (live)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67328"/>
            <a:ext cx="10545775" cy="566928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767328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76732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14:45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67328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Break: FSI regulatory trends &amp; MAS TRM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52544"/>
            <a:ext cx="10545775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352544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35254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15:00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352544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Securing the Agentic Enterprise: AI Risk Mitigation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937760"/>
            <a:ext cx="10545775" cy="566928"/>
          </a:xfrm>
          <a:prstGeom prst="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937760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93776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15:30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937760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Singlife Transformation Roadmap &amp; Discussion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22976"/>
            <a:ext cx="10545775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522976"/>
            <a:ext cx="54864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52297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2DD4BF"/>
                </a:solidFill>
                <a:latin typeface="Arial"/>
              </a:rPr>
              <a:t>15:45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522976"/>
            <a:ext cx="835121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0" i="0">
                <a:solidFill>
                  <a:srgbClr val="F5F5F7"/>
                </a:solidFill>
                <a:latin typeface="Arial"/>
              </a:rPr>
              <a:t>Next Steps &amp; Strategic Action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Vision &amp;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Setting a shared direction for Singlife's security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VISION &amp;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Setting the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Align this session with Singlife's multi-year cloud transformation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Shift from tool sprawl to one unified security platform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Consolidate detection, response and attack-surface management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Define what “success” means for today's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VISION &amp;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What Success Looks Like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 shared target operating model for the SOC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Proof, not slides — demonstrated outcomes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Clarity on platform-to-environment mapping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Agreed owners and timelines to move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The Autonomous SOC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A practitioner's blueprint — the platform that secures Palo Alto Networks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PRACTITIONER'S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An Inside Look at Our Own SOC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The same platform that secures Palo Alto Networks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EDR, SIEM, SOAR and ASM in one experience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One data lake, one console — no swivel-chair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AI does the heavy lifting before an analyst is involved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PRACTITIONER'S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From Noise to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3271418" cy="2468880"/>
          </a:xfrm>
          <a:prstGeom prst="rect">
            <a:avLst/>
          </a:prstGeom>
          <a:solidFill>
            <a:srgbClr val="16171B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271418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2814218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F5F5F7"/>
                </a:solidFill>
                <a:latin typeface="Arial"/>
              </a:rPr>
              <a:t>~90B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272277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9A9EA7"/>
                </a:solidFill>
                <a:latin typeface="Arial"/>
              </a:rPr>
              <a:t>raw events ingested per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0138" y="2468880"/>
            <a:ext cx="3271418" cy="2468880"/>
          </a:xfrm>
          <a:prstGeom prst="rect">
            <a:avLst/>
          </a:prstGeom>
          <a:solidFill>
            <a:srgbClr val="16171B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0138" y="2468880"/>
            <a:ext cx="3271418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8738" y="2971800"/>
            <a:ext cx="2814218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F5F5F7"/>
                </a:solidFill>
                <a:latin typeface="Arial"/>
              </a:rPr>
              <a:t>~75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4458" y="4069080"/>
            <a:ext cx="272277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9A9EA7"/>
                </a:solidFill>
                <a:latin typeface="Arial"/>
              </a:rPr>
              <a:t>cases surfaced per day for human 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2468880"/>
            <a:ext cx="3271418" cy="2468880"/>
          </a:xfrm>
          <a:prstGeom prst="rect">
            <a:avLst/>
          </a:prstGeom>
          <a:solidFill>
            <a:srgbClr val="16171B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2468880"/>
            <a:ext cx="3271418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5916" y="2971800"/>
            <a:ext cx="2814218" cy="1097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2DD4BF"/>
                </a:solidFill>
                <a:latin typeface="Arial"/>
              </a:rPr>
              <a:t>~1B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4069080"/>
            <a:ext cx="272277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9A9EA7"/>
                </a:solidFill>
                <a:latin typeface="Arial"/>
              </a:rPr>
              <a:t>reduction from noise to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0" i="0">
                <a:solidFill>
                  <a:srgbClr val="F5F5F7"/>
                </a:solidFill>
                <a:latin typeface="Arial"/>
              </a:rPr>
              <a:t>AI does the heavy lifting first — analysts see decisions, not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PRACTITIONER'S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The Outcome: Consolidation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5044287" cy="4069080"/>
          </a:xfrm>
          <a:prstGeom prst="rect">
            <a:avLst/>
          </a:prstGeom>
          <a:solidFill>
            <a:srgbClr val="16171B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5044287" cy="38100"/>
          </a:xfrm>
          <a:prstGeom prst="rect">
            <a:avLst/>
          </a:prstGeom>
          <a:solidFill>
            <a:srgbClr val="9A9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9A9EA7"/>
                </a:solidFill>
                <a:latin typeface="Arial"/>
              </a:rPr>
              <a:t>Before  — 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312767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Separate EDR, SIEM, SOAR and ASM tools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Swivel-chair investigation across consoles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Alerts, not incidents — context assembled by hand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Analysts absorb the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057400"/>
            <a:ext cx="5044287" cy="4069080"/>
          </a:xfrm>
          <a:prstGeom prst="rect">
            <a:avLst/>
          </a:prstGeom>
          <a:solidFill>
            <a:srgbClr val="1C1D22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2057400"/>
            <a:ext cx="5044287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0207" y="2331720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2DD4BF"/>
                </a:solidFill>
                <a:latin typeface="Arial"/>
              </a:rPr>
              <a:t>After  —  Unified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3017520"/>
            <a:ext cx="4312767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One platform, one data model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Alerts auto-stitched into incidents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Investigation context assembled automatically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Analysts focus on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Operational Excellence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SOC walkthrough — seeing machine-speed response in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SOC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The Proof: Machine-Speed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Live demo of automated response playbooks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Detection → enrichment → containment, analyst in the loop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Sub-5-minute containment; ~1-minute MTTR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Automatic isolation, quarantine and scans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SOC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Manual vs Machine-Speed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48840"/>
          <a:ext cx="10543032" cy="3401568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4114800"/>
                <a:gridCol w="4233672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5F5F7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anchor="ctr" marL="164592" marR="109728" marT="73152" marB="73152">
                    <a:solidFill>
                      <a:srgbClr val="1C1D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5F5F7"/>
                          </a:solidFill>
                          <a:latin typeface="Arial"/>
                        </a:rPr>
                        <a:t>Traditional SOC</a:t>
                      </a:r>
                    </a:p>
                  </a:txBody>
                  <a:tcPr anchor="ctr" marL="164592" marR="109728" marT="73152" marB="73152">
                    <a:solidFill>
                      <a:srgbClr val="1C1D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5F5F7"/>
                          </a:solidFill>
                          <a:latin typeface="Arial"/>
                        </a:rPr>
                        <a:t>Autonomous SOC</a:t>
                      </a:r>
                    </a:p>
                  </a:txBody>
                  <a:tcPr anchor="ctr" marL="164592" marR="109728" marT="73152" marB="73152">
                    <a:solidFill>
                      <a:srgbClr val="148F8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5F5F7"/>
                          </a:solidFill>
                          <a:latin typeface="Arial"/>
                        </a:rPr>
                        <a:t>Triage</a:t>
                      </a:r>
                    </a:p>
                  </a:txBody>
                  <a:tcPr anchor="ctr" marL="164592" marR="109728" marT="54864" marB="54864">
                    <a:solidFill>
                      <a:srgbClr val="16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9A9EA7"/>
                          </a:solidFill>
                          <a:latin typeface="Arial"/>
                        </a:rPr>
                        <a:t>Manual, across consoles</a:t>
                      </a:r>
                    </a:p>
                  </a:txBody>
                  <a:tcPr anchor="ctr" marL="164592" marR="109728" marT="54864" marB="54864">
                    <a:solidFill>
                      <a:srgbClr val="16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2DD4BF"/>
                          </a:solidFill>
                          <a:latin typeface="Arial"/>
                        </a:rPr>
                        <a:t>Automated correlation</a:t>
                      </a:r>
                    </a:p>
                  </a:txBody>
                  <a:tcPr anchor="ctr" marL="164592" marR="109728" marT="54864" marB="54864">
                    <a:solidFill>
                      <a:srgbClr val="1C1D2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5F5F7"/>
                          </a:solidFill>
                          <a:latin typeface="Arial"/>
                        </a:rPr>
                        <a:t>Enrichment</a:t>
                      </a:r>
                    </a:p>
                  </a:txBody>
                  <a:tcPr anchor="ctr" marL="164592" marR="109728" marT="54864" marB="54864">
                    <a:solidFill>
                      <a:srgbClr val="0D0D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9A9EA7"/>
                          </a:solidFill>
                          <a:latin typeface="Arial"/>
                        </a:rPr>
                        <a:t>Analyst lookups</a:t>
                      </a:r>
                    </a:p>
                  </a:txBody>
                  <a:tcPr anchor="ctr" marL="164592" marR="109728" marT="54864" marB="54864">
                    <a:solidFill>
                      <a:srgbClr val="0D0D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2DD4BF"/>
                          </a:solidFill>
                          <a:latin typeface="Arial"/>
                        </a:rPr>
                        <a:t>Automatic, playbook-driven</a:t>
                      </a:r>
                    </a:p>
                  </a:txBody>
                  <a:tcPr anchor="ctr" marL="164592" marR="109728" marT="54864" marB="54864">
                    <a:solidFill>
                      <a:srgbClr val="1C1D2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5F5F7"/>
                          </a:solidFill>
                          <a:latin typeface="Arial"/>
                        </a:rPr>
                        <a:t>Containment</a:t>
                      </a:r>
                    </a:p>
                  </a:txBody>
                  <a:tcPr anchor="ctr" marL="164592" marR="109728" marT="54864" marB="54864">
                    <a:solidFill>
                      <a:srgbClr val="16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9A9EA7"/>
                          </a:solidFill>
                          <a:latin typeface="Arial"/>
                        </a:rPr>
                        <a:t>Hours to days</a:t>
                      </a:r>
                    </a:p>
                  </a:txBody>
                  <a:tcPr anchor="ctr" marL="164592" marR="109728" marT="54864" marB="54864">
                    <a:solidFill>
                      <a:srgbClr val="16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2DD4BF"/>
                          </a:solidFill>
                          <a:latin typeface="Arial"/>
                        </a:rPr>
                        <a:t>Sub-5 minutes</a:t>
                      </a:r>
                    </a:p>
                  </a:txBody>
                  <a:tcPr anchor="ctr" marL="164592" marR="109728" marT="54864" marB="54864">
                    <a:solidFill>
                      <a:srgbClr val="1C1D2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5F5F7"/>
                          </a:solidFill>
                          <a:latin typeface="Arial"/>
                        </a:rPr>
                        <a:t>MTTR</a:t>
                      </a:r>
                    </a:p>
                  </a:txBody>
                  <a:tcPr anchor="ctr" marL="164592" marR="109728" marT="54864" marB="54864">
                    <a:solidFill>
                      <a:srgbClr val="0D0D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9A9EA7"/>
                          </a:solidFill>
                          <a:latin typeface="Arial"/>
                        </a:rPr>
                        <a:t>Hours</a:t>
                      </a:r>
                    </a:p>
                  </a:txBody>
                  <a:tcPr anchor="ctr" marL="164592" marR="109728" marT="54864" marB="54864">
                    <a:solidFill>
                      <a:srgbClr val="0D0D0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2DD4BF"/>
                          </a:solidFill>
                          <a:latin typeface="Arial"/>
                        </a:rPr>
                        <a:t>~1 minute</a:t>
                      </a:r>
                    </a:p>
                  </a:txBody>
                  <a:tcPr anchor="ctr" marL="164592" marR="109728" marT="54864" marB="54864">
                    <a:solidFill>
                      <a:srgbClr val="1C1D2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Break — FSI Regulatory Trends &amp; MAS TRM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An informal look at the regional compliance landscape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REGULATORY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Regional FSI &amp; MAS TRM (informal)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MAS TRM expectations: rapid detect, respond and recover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Log retention, auditability and incident reporting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MSSP oversight and shared responsibility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Unified platform simplifies evidence and compliance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Securing the Agentic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AI risk mitigation — defending the new attack surface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AGENTIC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The Future: AI Risk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 new AI attack surface to defend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Shadow AI and ungoverned usage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Prompt injection against enterprise agents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Rogue / anomalous LLM activity and data exfiltration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Detection and response for AI — from the same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Singlife Transformation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From today's fragmented estate to a unified target 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TRANSFORMATION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Current State → Proposed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5044287" cy="4069080"/>
          </a:xfrm>
          <a:prstGeom prst="rect">
            <a:avLst/>
          </a:prstGeom>
          <a:solidFill>
            <a:srgbClr val="16171B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5044287" cy="38100"/>
          </a:xfrm>
          <a:prstGeom prst="rect">
            <a:avLst/>
          </a:prstGeom>
          <a:solidFill>
            <a:srgbClr val="9A9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9A9EA7"/>
                </a:solidFill>
                <a:latin typeface="Arial"/>
              </a:rPr>
              <a:t>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312767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MDE on ~2,500 endpoints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Trend Micro on ~900 servers (100 on-prem, 800 AWS)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SIEM on Azure Sentinel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SOC delivered by Ensign (MSSP)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9A9EA7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Blind spots between disjoint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057400"/>
            <a:ext cx="5044287" cy="4069080"/>
          </a:xfrm>
          <a:prstGeom prst="rect">
            <a:avLst/>
          </a:prstGeom>
          <a:solidFill>
            <a:srgbClr val="1C1D22"/>
          </a:solidFill>
          <a:ln w="12700">
            <a:solidFill>
              <a:srgbClr val="2A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2057400"/>
            <a:ext cx="5044287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0207" y="2331720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 i="0">
                <a:solidFill>
                  <a:srgbClr val="2DD4BF"/>
                </a:solidFill>
                <a:latin typeface="Arial"/>
              </a:rPr>
              <a:t>Proposed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3017520"/>
            <a:ext cx="4312767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Single platform across endpoints &amp; servers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Unified detection, response and ASM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Consolidated data lake feeding the SOC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Ensign empowered with machine-speed tooling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400" b="0" i="0">
                <a:solidFill>
                  <a:srgbClr val="F5F5F7"/>
                </a:solidFill>
                <a:latin typeface="Arial"/>
              </a:rPr>
              <a:t>Coverage designed to eliminate 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TRANSFORMATION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Mapping to Singlife's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Baseline EDR controls: quarantine, isolation, scans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Application Control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DLP and AES available as add-ons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Retention: 3 months hot / 9 months cold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Complements and can rationalise the existing SIEM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 spc="300">
                <a:solidFill>
                  <a:srgbClr val="2DD4BF"/>
                </a:solidFill>
                <a:latin typeface="Arial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 i="0">
                <a:solidFill>
                  <a:srgbClr val="F5F5F7"/>
                </a:solidFill>
                <a:latin typeface="Arial"/>
              </a:rPr>
              <a:t>Next Steps &amp; Strategic Action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977639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 i="0">
                <a:solidFill>
                  <a:srgbClr val="9A9EA7"/>
                </a:solidFill>
                <a:latin typeface="Arial"/>
              </a:rPr>
              <a:t>Turning alignment into a scoped, time-bound plan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 i="0" spc="240">
                <a:solidFill>
                  <a:srgbClr val="2DD4BF"/>
                </a:solidFill>
                <a:latin typeface="Arial"/>
              </a:rPr>
              <a:t>ACTION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5F5F7"/>
                </a:solidFill>
                <a:latin typeface="Arial"/>
              </a:rPr>
              <a:t>The Partnership: Accelerating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8229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Agree a scoped Proof of Value (POV)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Confirm owners and timelines — Singlife, Ensign, Palo Alto Networks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Success criteria tied to consolidation outcomes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Align to the budget timeline to break the deadlock</a:t>
            </a:r>
          </a:p>
          <a:p>
            <a:pPr>
              <a:lnSpc>
                <a:spcPct val="10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2DD4BF"/>
                </a:solidFill>
                <a:latin typeface="Arial"/>
              </a:rPr>
              <a:t>—  </a:t>
            </a:r>
            <a:r>
              <a:rPr sz="1600" b="0" i="0">
                <a:solidFill>
                  <a:srgbClr val="F5F5F7"/>
                </a:solidFill>
                <a:latin typeface="Arial"/>
              </a:rPr>
              <a:t>Schedule the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50" b="0" i="0">
                <a:solidFill>
                  <a:srgbClr val="6B6F78"/>
                </a:solidFill>
                <a:latin typeface="Arial"/>
              </a:rPr>
              <a:t>The Autonomous SOC  |  Cortex XSIAM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50" b="0" i="0">
                <a:solidFill>
                  <a:srgbClr val="6B6F7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5400" b="1" i="0">
                <a:solidFill>
                  <a:srgbClr val="F5F5F7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3703320"/>
            <a:ext cx="14630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0">
                <a:solidFill>
                  <a:srgbClr val="9A9EA7"/>
                </a:solidFill>
                <a:latin typeface="Arial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0" i="0">
                <a:solidFill>
                  <a:srgbClr val="6B6F78"/>
                </a:solidFill>
                <a:latin typeface="Arial"/>
              </a:rPr>
              <a:t>Singlife Executive Strategy Briefing  •  Cortex XSIAM  •  10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